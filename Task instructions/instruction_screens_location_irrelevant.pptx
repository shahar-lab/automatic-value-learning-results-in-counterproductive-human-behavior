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 dirty="0">
                <a:solidFill>
                  <a:srgbClr val="111111"/>
                </a:solidFill>
              </a:rPr>
              <a:t>Welcome to the Magical Leaves Game</a:t>
            </a:r>
          </a:p>
          <a:p>
            <a:pPr>
              <a:spcAft>
                <a:spcPts val="400"/>
              </a:spcAft>
            </a:pPr>
            <a:endParaRPr sz="2400" b="1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Your winnings in this game will earn you an additional payment bonus for participating in this study.</a:t>
            </a:r>
          </a:p>
          <a:p>
            <a:pPr>
              <a:spcAft>
                <a:spcPts val="400"/>
              </a:spcAft>
            </a:pPr>
            <a:endParaRPr sz="1800" b="0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In any case you will still receive £6 per hour for completing this study.</a:t>
            </a:r>
          </a:p>
          <a:p>
            <a:pPr>
              <a:spcAft>
                <a:spcPts val="400"/>
              </a:spcAft>
            </a:pPr>
            <a:endParaRPr sz="1800" b="0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1" dirty="0">
                <a:solidFill>
                  <a:srgbClr val="111111"/>
                </a:solidFill>
              </a:rPr>
              <a:t>However, you can earn up to an extra £0.5 based on your winnings in the game.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We will now provide instructions for the game. Please read them carefully.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You can go back and forth between screens as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During the instructions, we will request that you complete a few brief quizzes,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to ensure everything is clearly understood.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In our village, there is a wizard who is willing to buy colored leaves that he needs for his magic.</a:t>
            </a:r>
          </a:p>
        </p:txBody>
      </p:sp>
      <p:pic>
        <p:nvPicPr>
          <p:cNvPr id="5" name="Picture 4" descr="wi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Below is an example of four leaves.</a:t>
            </a:r>
          </a:p>
        </p:txBody>
      </p:sp>
      <p:pic>
        <p:nvPicPr>
          <p:cNvPr id="5" name="Picture 4" descr="four_lea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828800"/>
            <a:ext cx="50292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At each step in the game, two leaves fall from a magical tree.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You will only see the fallen leaves appearing on the screen, as illustrated below.</a:t>
            </a:r>
          </a:p>
          <a:p>
            <a:pPr>
              <a:spcAft>
                <a:spcPts val="400"/>
              </a:spcAft>
            </a:pPr>
            <a:endParaRPr sz="18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When the leaves fall, the wind will randomly cause one to drift to the left and the other to the right.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Your task is to choose one of the leaves to try and sell to the wizard.</a:t>
            </a:r>
          </a:p>
          <a:p>
            <a:pPr>
              <a:spcAft>
                <a:spcPts val="400"/>
              </a:spcAft>
            </a:pPr>
            <a:endParaRPr sz="18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</a:rPr>
              <a:t>If you want to choose the leaf on the left, press 'S' on your keyboard.</a:t>
            </a: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</a:rPr>
              <a:t>To choose the leaf on the right, press 'K'.</a:t>
            </a:r>
          </a:p>
        </p:txBody>
      </p:sp>
      <p:pic>
        <p:nvPicPr>
          <p:cNvPr id="5" name="Picture 4" descr="example_lea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023360"/>
            <a:ext cx="36576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Once you've made your selection, you will see the selected leaf and whether the wizard decided to buy the leaf or not.</a:t>
            </a:r>
          </a:p>
          <a:p>
            <a:pPr>
              <a:spcAft>
                <a:spcPts val="400"/>
              </a:spcAft>
            </a:pPr>
            <a:endParaRPr sz="18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</a:rPr>
              <a:t>If the wizard chooses to buy the leaf, you will earn one golden coin.</a:t>
            </a:r>
          </a:p>
          <a:p>
            <a:pPr>
              <a:spcAft>
                <a:spcPts val="400"/>
              </a:spcAft>
            </a:pPr>
            <a:endParaRPr sz="18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The outcome will be displayed in the center of the screen, as shown below.</a:t>
            </a:r>
          </a:p>
        </p:txBody>
      </p:sp>
      <p:pic>
        <p:nvPicPr>
          <p:cNvPr id="5" name="Picture 4" descr="reward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3474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If the wizard chooses not to buy the leaf, you will earn nothing and a black coin will be displayed as in the picture below.</a:t>
            </a:r>
          </a:p>
        </p:txBody>
      </p:sp>
      <p:pic>
        <p:nvPicPr>
          <p:cNvPr id="5" name="Picture 4" descr="no_reward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1031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You will play 4 rounds of 50 choices each.</a:t>
            </a: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Every round will include 4 new leaves.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The golden coins you earn will be exchanged for a bonus reward at the end of the experiment – so this amounts to real money!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You will now take a brief quiz to make sure that you understand the instructions.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If you make a mistake, you will need to review the instructions again.</a:t>
            </a:r>
          </a:p>
          <a:p>
            <a:pPr>
              <a:spcAft>
                <a:spcPts val="400"/>
              </a:spcAft>
            </a:pPr>
            <a:endParaRPr sz="20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Press any key to continue.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Quiz – Understanding the Instructions</a:t>
            </a:r>
          </a:p>
          <a:p>
            <a:pPr>
              <a:spcAft>
                <a:spcPts val="400"/>
              </a:spcAft>
            </a:pPr>
            <a:endParaRPr sz="20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Q1. How many leaves in total are there in each round?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2   ○ 4 ✓   ○ 6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Q2. How many fallen leaves will you be offered each time?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2 ✓   ○ 4   ○ 6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Q3. How do you choose a leaf?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Click on it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Press the LEFT or RIGHT arrow keys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Press the S or K key with your LEFT or RIGHT hand ✓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Q4. What is the goal of the game?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The goal is to make the best selections and earn as much bonus money as I can ✓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The goal is to pick similar leaves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To help you succeed in the game as much as possible we will now provide some important clarifications.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Read them carefully, as we will quiz you about these clarifications to confirm your understanding.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</a:rPr>
              <a:t>1)  The chance of winning a coin depends on the color of the leaf you choose.</a:t>
            </a:r>
          </a:p>
          <a:p>
            <a:pPr>
              <a:spcAft>
                <a:spcPts val="400"/>
              </a:spcAft>
            </a:pPr>
            <a:endParaRPr sz="19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At any given time, each colored leaf has a certain value for the wizard. The wizard doesn't always buy leaves.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If you choose a colored leaf that the wizard currently values highly, you have a higher chance to sell it to him.</a:t>
            </a: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If you choose a colored leaf that the wizard currently assigns little value to, you have a lower chance of selling it.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Therefore, you need to track the outcomes across time and do your best to learn the wizard's value for each leaf.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Your job is to make a leaf selection that will lead to the highest chance of gaining rewards, and obtain the highest amount of gold coins.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</a:rPr>
              <a:t>2)  The value of the colored leaves slowly changes.</a:t>
            </a:r>
          </a:p>
          <a:p>
            <a:pPr>
              <a:spcAft>
                <a:spcPts val="400"/>
              </a:spcAft>
            </a:pPr>
            <a:endParaRPr sz="19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Throughout the game, the value of each colored leaf slowly changes – similar to how the demands of market products change.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So for example, if a certain color is highly valuable to the wizard at the start of the game, its value might still decrease/increase over time.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You need to keep sharp, track the outcomes you see when selecting colored leaves, and try your best to make selections that will maximize the number of golden coins earned.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</a:rPr>
              <a:t>3)  Each colored leaf has its own value.</a:t>
            </a:r>
          </a:p>
          <a:p>
            <a:pPr>
              <a:spcAft>
                <a:spcPts val="400"/>
              </a:spcAft>
            </a:pPr>
            <a:endParaRPr sz="19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Each colored leaf has its own demand. Learning about one colored leaf tells you nothing about the other leaves.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For example, two, three, or even all four colored leaves may be highly valued by the wizard at a certain time.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The outcome you see after selecting a colored leaf is related only to the value of that specific colored leaf and means nothing regarding the value of the others.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Your task is to figure out the wizard's preferred leaves at any given time and select them.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900" b="1">
                <a:solidFill>
                  <a:srgbClr val="111111"/>
                </a:solidFill>
              </a:rPr>
              <a:t>4)  The blowing wind is completely random.</a:t>
            </a:r>
          </a:p>
          <a:p>
            <a:pPr>
              <a:spcAft>
                <a:spcPts val="400"/>
              </a:spcAft>
            </a:pPr>
            <a:endParaRPr sz="19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After the colored leaves fall from the magical tree, the wind blows them to the left or to the right.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The wind is completely random. Therefore the location of the leaves (left or right) has no meaning to how high/low the wizard values a certain colored leaf.</a:t>
            </a:r>
          </a:p>
          <a:p>
            <a:pPr>
              <a:spcAft>
                <a:spcPts val="400"/>
              </a:spcAft>
            </a:pPr>
            <a:endParaRPr sz="17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111111"/>
                </a:solidFill>
              </a:rPr>
              <a:t>Select only based on color.</a:t>
            </a:r>
          </a:p>
        </p:txBody>
      </p:sp>
      <p:pic>
        <p:nvPicPr>
          <p:cNvPr id="5" name="Picture 4" descr="wi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4114800"/>
            <a:ext cx="32004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You will now take a brief quiz to make sure that you understand the clarifications.</a:t>
            </a:r>
          </a:p>
          <a:p>
            <a:pPr>
              <a:spcAft>
                <a:spcPts val="400"/>
              </a:spcAft>
            </a:pPr>
            <a:endParaRPr sz="20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If you make a mistake, you will need to review the instructions again.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Please scroll down until you answer all the questions.</a:t>
            </a:r>
          </a:p>
          <a:p>
            <a:pPr>
              <a:spcAft>
                <a:spcPts val="400"/>
              </a:spcAft>
            </a:pPr>
            <a:endParaRPr sz="18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11111"/>
                </a:solidFill>
              </a:rPr>
              <a:t>Press any key to continue.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111111"/>
                </a:solidFill>
              </a:rPr>
              <a:t>Quiz – Understanding the Clarifications</a:t>
            </a:r>
          </a:p>
          <a:p>
            <a:pPr>
              <a:spcAft>
                <a:spcPts val="400"/>
              </a:spcAft>
            </a:pPr>
            <a:endParaRPr sz="2000" b="1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Q1. The demand for a leaf can change during the round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True ✓   ○ False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Q2. If one leaf leads you to win more coins, it means the other leaves will probably lead you to win less coins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True   ○ False ✓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Q3. Using the RIGHT response key instead of the LEFT key may increase your coin-winning chances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True – the response keys are related to coins winning chances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False – you won't win more or less using RIGHT ('k') or LEFT ('s'). Only the color of the leaves is related to your chances of winning coins. ✓</a:t>
            </a:r>
          </a:p>
          <a:p>
            <a:pPr>
              <a:spcAft>
                <a:spcPts val="400"/>
              </a:spcAft>
            </a:pPr>
            <a:endParaRPr sz="1600" b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700" b="0">
                <a:solidFill>
                  <a:srgbClr val="111111"/>
                </a:solidFill>
              </a:rPr>
              <a:t>Q4. What determines the location of the leaves?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     ○ The wind ✓   ○ The Wizard   ○ The leaves themselves   ○ The demand for the leaves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 b="0">
                <a:solidFill>
                  <a:srgbClr val="111111"/>
                </a:solidFill>
              </a:rPr>
              <a:t>Just before starting the game, let's test once again the clarity of our instructions using an illustrative example.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Q1.  Here is an example for a participant that chose in choice #1 the reddish leaf appearing on the left, and got a reward.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What should be the preferred next choice when two new leaves are possible for selection?</a:t>
            </a:r>
          </a:p>
        </p:txBody>
      </p:sp>
      <p:pic>
        <p:nvPicPr>
          <p:cNvPr id="5" name="Picture 4" descr="first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96012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0292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prefer the left leaf in choice #2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prefer the right leaf in choice #2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have no information about the two leaves offered in choice #2 so I have to guess  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dirty="0">
                <a:solidFill>
                  <a:srgbClr val="111111"/>
                </a:solidFill>
              </a:rPr>
              <a:t>Correct! Good job!</a:t>
            </a:r>
          </a:p>
          <a:p>
            <a:pPr>
              <a:spcAft>
                <a:spcPts val="400"/>
              </a:spcAft>
            </a:pPr>
            <a:endParaRPr sz="2200" b="1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If you haven't seen these leaves before, please pick one at random.</a:t>
            </a: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Neither the leaf's placement nor the response key you selected affects your odds of winning a coin.</a:t>
            </a:r>
          </a:p>
          <a:p>
            <a:pPr>
              <a:spcAft>
                <a:spcPts val="400"/>
              </a:spcAft>
            </a:pPr>
            <a:endParaRPr sz="1800" b="0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Let's do one more final question.</a:t>
            </a:r>
          </a:p>
          <a:p>
            <a:pPr>
              <a:spcAft>
                <a:spcPts val="400"/>
              </a:spcAft>
            </a:pPr>
            <a:endParaRPr sz="1800" b="0" dirty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Q2.  Here is an example for a participant that chose in choice #1 the reddish leaf appearing on the left, and got a reward.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In the next trial the choice was between a new leaf and one that was included in the previous trial.</a:t>
            </a:r>
          </a:p>
          <a:p>
            <a:pPr>
              <a:spcAft>
                <a:spcPts val="400"/>
              </a:spcAft>
            </a:pPr>
            <a:r>
              <a:rPr sz="1700" b="1">
                <a:solidFill>
                  <a:srgbClr val="111111"/>
                </a:solidFill>
              </a:rPr>
              <a:t>What should be the preferred next choice?</a:t>
            </a:r>
          </a:p>
        </p:txBody>
      </p:sp>
      <p:pic>
        <p:nvPicPr>
          <p:cNvPr id="5" name="Picture 4" descr="second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11680"/>
            <a:ext cx="960120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21208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prefer the left leaf in choice #2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prefer the right leaf in choice #2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11111"/>
                </a:solidFill>
              </a:rPr>
              <a:t>○ I have no information about the two leaves offered in choice #2 so I have to guess  ✓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orest_backgroun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365760"/>
            <a:ext cx="11274552" cy="6126480"/>
          </a:xfrm>
          <a:prstGeom prst="rect">
            <a:avLst/>
          </a:prstGeom>
          <a:solidFill>
            <a:srgbClr val="FFFFFF">
              <a:alpha val="85000"/>
            </a:srgbClr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1805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1" dirty="0">
                <a:solidFill>
                  <a:srgbClr val="111111"/>
                </a:solidFill>
              </a:rPr>
              <a:t>Correct! Good job!</a:t>
            </a:r>
          </a:p>
          <a:p>
            <a:pPr>
              <a:spcAft>
                <a:spcPts val="400"/>
              </a:spcAft>
            </a:pPr>
            <a:endParaRPr sz="2200" b="1" dirty="0">
              <a:solidFill>
                <a:srgbClr val="111111"/>
              </a:solidFill>
            </a:endParaRP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If you haven't selected these leaves before, please pick one at random.</a:t>
            </a:r>
          </a:p>
          <a:p>
            <a:pPr>
              <a:spcAft>
                <a:spcPts val="400"/>
              </a:spcAft>
            </a:pPr>
            <a:r>
              <a:rPr sz="1800" b="0" dirty="0">
                <a:solidFill>
                  <a:srgbClr val="111111"/>
                </a:solidFill>
              </a:rPr>
              <a:t>What you learn about a certain leaf has nothing to do with the demand for the other leaves.</a:t>
            </a:r>
          </a:p>
          <a:p>
            <a:pPr>
              <a:spcAft>
                <a:spcPts val="400"/>
              </a:spcAft>
            </a:pPr>
            <a:endParaRPr sz="1800" b="0" dirty="0">
              <a:solidFill>
                <a:srgbClr val="11111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1450</Words>
  <Application>Microsoft Office PowerPoint</Application>
  <PresentationFormat>Custom</PresentationFormat>
  <Paragraphs>131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Ido Ben Artzi</cp:lastModifiedBy>
  <cp:revision>3</cp:revision>
  <dcterms:created xsi:type="dcterms:W3CDTF">2013-01-27T09:14:16Z</dcterms:created>
  <dcterms:modified xsi:type="dcterms:W3CDTF">2026-06-14T15:53:29Z</dcterms:modified>
  <cp:category/>
</cp:coreProperties>
</file>